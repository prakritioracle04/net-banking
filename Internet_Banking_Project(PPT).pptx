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5" r:id="rId7"/>
    <p:sldId id="267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4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7274-408D-C8B6-EC99-055FEBE9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58712-7364-616F-6AC0-990CCEDA8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FAF68-9399-D0A5-81BC-A6B819AC5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5A1C4-E059-0868-77A1-7D6732C41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27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3369-DB4D-5410-B6D3-B36C6EE1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5548F-4964-1B9E-AF7A-E142B65C1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B4A6B-B386-0F7C-5CA7-08CB22569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D96B6-6A82-3AC7-69FF-FBA29D5C6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47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98D917-E905-ECDD-18E3-4005933123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13F9B-583F-DA19-76CE-236C3A27E8A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45720" y="45720"/>
            <a:ext cx="2560320" cy="2011680"/>
          </a:xfrm>
          <a:prstGeom prst="ellipse">
            <a:avLst/>
          </a:prstGeom>
          <a:solidFill>
            <a:srgbClr val="52656B"/>
          </a:solidFill>
          <a:ln w="12700">
            <a:solidFill>
              <a:srgbClr val="5265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46920" y="45720"/>
            <a:ext cx="2514600" cy="201168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200000">
            <a:off x="8549640" y="182880"/>
            <a:ext cx="3291840" cy="2743200"/>
          </a:xfrm>
          <a:prstGeom prst="arc">
            <a:avLst/>
          </a:prstGeom>
          <a:solidFill>
            <a:srgbClr val="FFFFFF">
              <a:alpha val="0"/>
            </a:srgbClr>
          </a:solidFill>
          <a:ln w="254000">
            <a:solidFill>
              <a:srgbClr val="D7A1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5640000">
            <a:off x="9509760" y="4206240"/>
            <a:ext cx="2377440" cy="2331720"/>
          </a:xfrm>
          <a:prstGeom prst="arc">
            <a:avLst/>
          </a:prstGeom>
          <a:solidFill>
            <a:srgbClr val="FFFFFF">
              <a:alpha val="0"/>
            </a:srgbClr>
          </a:solidFill>
          <a:ln w="381000">
            <a:solidFill>
              <a:srgbClr val="6E6B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" y="4983480"/>
            <a:ext cx="2148840" cy="1508760"/>
          </a:xfrm>
          <a:prstGeom prst="ellipse">
            <a:avLst/>
          </a:prstGeom>
          <a:solidFill>
            <a:srgbClr val="C89B6B">
              <a:alpha val="75000"/>
            </a:srgbClr>
          </a:solidFill>
          <a:ln w="12700">
            <a:solidFill>
              <a:srgbClr val="C89B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5074920"/>
            <a:ext cx="2377440" cy="9601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" y="5440680"/>
            <a:ext cx="2011680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8368" y="658368"/>
            <a:ext cx="10771632" cy="5413248"/>
          </a:xfrm>
          <a:prstGeom prst="roundRect">
            <a:avLst>
              <a:gd name="adj" fmla="val 1014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6"/>
          <p:cNvSpPr/>
          <p:nvPr/>
        </p:nvSpPr>
        <p:spPr>
          <a:xfrm>
            <a:off x="960120" y="932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4634"/>
                </a:solidFill>
              </a:rPr>
              <a:t>ORACLE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60120" y="140817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4634"/>
                </a:solidFill>
              </a:rPr>
              <a:t>PROJECT CASE STUDY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880360" y="1901952"/>
            <a:ext cx="6400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D2228"/>
                </a:solidFill>
              </a:rPr>
              <a:t>Internet Banking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1D2228"/>
                </a:solidFill>
              </a:rPr>
              <a:t>System</a:t>
            </a:r>
            <a:endParaRPr lang="en-US" sz="2900" dirty="0"/>
          </a:p>
        </p:txBody>
      </p:sp>
      <p:sp>
        <p:nvSpPr>
          <p:cNvPr id="13" name="Text 9"/>
          <p:cNvSpPr/>
          <p:nvPr/>
        </p:nvSpPr>
        <p:spPr>
          <a:xfrm>
            <a:off x="2148840" y="322783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</a:rPr>
              <a:t>A full-stack digital banking platform designed for secure customer services and controlled administrative operations.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08760" y="43434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Oracle JET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8915400" y="43434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3" name="Text 19"/>
          <p:cNvSpPr/>
          <p:nvPr/>
        </p:nvSpPr>
        <p:spPr>
          <a:xfrm>
            <a:off x="960120" y="55961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77A7E"/>
                </a:solidFill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10954512" y="55595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A7E"/>
                </a:solidFill>
              </a:rPr>
              <a:t>1</a:t>
            </a:r>
            <a:endParaRPr lang="en-US" sz="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9B2C77-FEE0-1EED-0DA8-9131EC9901FA}"/>
              </a:ext>
            </a:extLst>
          </p:cNvPr>
          <p:cNvSpPr txBox="1"/>
          <p:nvPr/>
        </p:nvSpPr>
        <p:spPr>
          <a:xfrm>
            <a:off x="9223939" y="4472749"/>
            <a:ext cx="21058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Submitted By</a:t>
            </a:r>
            <a:r>
              <a:rPr lang="en-IN" b="1" dirty="0"/>
              <a:t>:</a:t>
            </a:r>
            <a:endParaRPr lang="en-IN" dirty="0"/>
          </a:p>
          <a:p>
            <a:pPr lvl="0"/>
            <a:r>
              <a:rPr lang="en-IN" sz="1000" b="1" dirty="0"/>
              <a:t>Gokul Krishnan</a:t>
            </a:r>
            <a:endParaRPr lang="en-IN" sz="1000" dirty="0"/>
          </a:p>
          <a:p>
            <a:pPr lvl="0"/>
            <a:r>
              <a:rPr lang="en-IN" sz="1000" b="1" dirty="0"/>
              <a:t>Prakriti Yadav</a:t>
            </a:r>
            <a:endParaRPr lang="en-IN" sz="1000" dirty="0"/>
          </a:p>
          <a:p>
            <a:pPr lvl="0"/>
            <a:r>
              <a:rPr lang="en-IN" sz="1000" b="1" dirty="0"/>
              <a:t>Sreeja Pamu</a:t>
            </a:r>
            <a:endParaRPr lang="en-IN" sz="1000" dirty="0"/>
          </a:p>
          <a:p>
            <a:pPr lvl="0"/>
            <a:r>
              <a:rPr lang="en-IN" sz="1000" b="1" dirty="0"/>
              <a:t>Meghana Nanavala</a:t>
            </a:r>
            <a:endParaRPr lang="en-I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What the platform does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A full-stack digital banking platform with separate customer and administrative journeys.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2770632" cy="1243584"/>
          </a:xfrm>
          <a:prstGeom prst="roundRect">
            <a:avLst>
              <a:gd name="adj" fmla="val 4412"/>
            </a:avLst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79008" y="1901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IB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74920" y="226771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 Banking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975104"/>
            <a:ext cx="457200" cy="502920"/>
          </a:xfrm>
          <a:prstGeom prst="chevron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 rot="10800000">
            <a:off x="7644384" y="1975104"/>
            <a:ext cx="457200" cy="502920"/>
          </a:xfrm>
          <a:prstGeom prst="chevron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5800" y="1572768"/>
            <a:ext cx="30632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5800" y="1572768"/>
            <a:ext cx="64008" cy="1426464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86968" y="1737360"/>
            <a:ext cx="347472" cy="347472"/>
          </a:xfrm>
          <a:prstGeom prst="ellipse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86968" y="17830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44168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Customer journey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5256" y="2093976"/>
            <a:ext cx="2624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Registration, authentication, account management, transfers, bills, scheduled payments, cards, loans and statements.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394192" y="1572768"/>
            <a:ext cx="30632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94192" y="1572768"/>
            <a:ext cx="64008" cy="142646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595360" y="1737360"/>
            <a:ext cx="347472" cy="347472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95360" y="17830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0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Administrative journey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13648" y="2093976"/>
            <a:ext cx="2624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KYC verification, approvals, audit monitoring, reports and an operational dashboard.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097280" y="3456432"/>
            <a:ext cx="164592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97280" y="3511296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304A5E"/>
                </a:solidFill>
              </a:rPr>
              <a:t>Secure by design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971800" y="3456432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71800" y="3511296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D6A6B"/>
                </a:solidFill>
              </a:rPr>
              <a:t>Auditable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434840" y="3456432"/>
            <a:ext cx="155448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434840" y="351129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4634"/>
                </a:solidFill>
              </a:rPr>
              <a:t>Controlled admin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85800" y="40690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5800" y="4069080"/>
            <a:ext cx="64008" cy="1234440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05256" y="4215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Customer capabilities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5256" y="4590288"/>
            <a:ext cx="3081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Two-factor authentication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Fund transfers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Beneficiary management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Bill &amp; scheduled payments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343400" y="40690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343400" y="4069080"/>
            <a:ext cx="64008" cy="1234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62856" y="4215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Controlled administration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62856" y="4590288"/>
            <a:ext cx="3081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KYC verification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Approvals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Audit monitoring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• Reports &amp; dashboard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001000" y="40690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001000" y="4069080"/>
            <a:ext cx="64008" cy="1234440"/>
          </a:xfrm>
          <a:prstGeom prst="rect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220456" y="4215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Platform backbone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20456" y="4590288"/>
            <a:ext cx="3081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Centralized API Gateway + microservices orchestration connecting customer channels to domain services and data.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Layered stack designed for modular development, secure APIs and scalable service ownership.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64008" cy="1417320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05256" y="1746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Experience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5256" y="2121408"/>
            <a:ext cx="23042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Oracle JET 20.1.2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JavaScript 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MVVM / Knockout.js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11880" y="1600200"/>
            <a:ext cx="64008" cy="1417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31336" y="1746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Application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31336" y="2121408"/>
            <a:ext cx="23042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Java 17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Spring Boot 3.5.4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Spring Cloud 2025.0.0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Spring Cloud Gateway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37960" y="160020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64008" cy="1417320"/>
          </a:xfrm>
          <a:prstGeom prst="rect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57416" y="1746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Security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57416" y="2121408"/>
            <a:ext cx="1801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Spring Security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JWT • RBAC • 2FA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BCrypt • AES-GCM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96112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600200"/>
            <a:ext cx="64008" cy="1417320"/>
          </a:xfrm>
          <a:prstGeom prst="rect">
            <a:avLst/>
          </a:prstGeom>
          <a:solidFill>
            <a:srgbClr val="1D2228"/>
          </a:solidFill>
          <a:ln w="12700">
            <a:solidFill>
              <a:srgbClr val="1D22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80576" y="1746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Data &amp; Messaging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80576" y="2121408"/>
            <a:ext cx="20756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Oracle Database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JPA / Hibernate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Apache Kafka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148840" y="365760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148840" y="3657600"/>
            <a:ext cx="64008" cy="1325880"/>
          </a:xfrm>
          <a:prstGeom prst="rect">
            <a:avLst/>
          </a:prstGeom>
          <a:solidFill>
            <a:srgbClr val="6B7178"/>
          </a:solidFill>
          <a:ln w="12700">
            <a:solidFill>
              <a:srgbClr val="6B7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68296" y="3803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Delivery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368296" y="4178808"/>
            <a:ext cx="2441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Maven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Podman Compose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303520" y="3657600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03520" y="3657600"/>
            <a:ext cx="64008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22976" y="3803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Architecture signal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522976" y="4178808"/>
            <a:ext cx="40873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Modular services  →  secured APIs  →  owned data  →  asynchronous processing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063240" y="5413248"/>
            <a:ext cx="114300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063240" y="5468112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304A5E"/>
                </a:solidFill>
              </a:rPr>
              <a:t>Modular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434840" y="5413248"/>
            <a:ext cx="114300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434840" y="5468112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4634"/>
                </a:solidFill>
              </a:rPr>
              <a:t>Secure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806440" y="5413248"/>
            <a:ext cx="132588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06440" y="5468112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D6A6B"/>
                </a:solidFill>
              </a:rPr>
              <a:t>Observable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360920" y="5413248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360920" y="546811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D2228"/>
                </a:solidFill>
              </a:rPr>
              <a:t>Scalable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7855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Controlled interaction between channels, services, workflows and data.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714232" y="1792224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+ TRUST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3</a:t>
            </a:r>
            <a:endParaRPr lang="en-US" sz="700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BBFC3F1C-8157-9739-1C99-BDFA3D540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7" y="841248"/>
            <a:ext cx="10287000" cy="5318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Three complete end-to-end MVP workflows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The most complete demonstrated journeys in the project.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3063240" cy="406908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016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86968" y="1901952"/>
            <a:ext cx="530352" cy="530352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86968" y="206654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9019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2228"/>
                </a:solidFill>
              </a:rPr>
              <a:t>Biller Management &amp; Bill Payments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" y="274320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86968" y="28437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4634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99032" y="2779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Biller registration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86968" y="3310128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86968" y="341071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4634"/>
                </a:solidFill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99032" y="334670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Source-account selection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86968" y="3877056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6968" y="39776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4634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99032" y="391363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Payment initiation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86968" y="4443984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86968" y="45445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4634"/>
                </a:solidFill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399032" y="44805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Payment tracking / history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86968" y="5010912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86968" y="511149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4634"/>
                </a:solidFill>
              </a:rPr>
              <a:t>5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99032" y="50474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Workflow-based execution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86968" y="5486400"/>
            <a:ext cx="2606040" cy="0"/>
          </a:xfrm>
          <a:prstGeom prst="line">
            <a:avLst/>
          </a:prstGeom>
          <a:noFill/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86968" y="5577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74634"/>
                </a:solidFill>
              </a:rPr>
              <a:t>Payment journey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87952" y="1691640"/>
            <a:ext cx="3063240" cy="406908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016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389120" y="1901952"/>
            <a:ext cx="530352" cy="530352"/>
          </a:xfrm>
          <a:prstGeom prst="ellipse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89120" y="206654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56632" y="19019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2228"/>
                </a:solidFill>
              </a:rPr>
              <a:t>Scheduled Payments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0" y="274320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28437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04A5E"/>
                </a:solidFill>
              </a:rPr>
              <a:t>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01184" y="2779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Create future / recurring payment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389120" y="3310128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9120" y="341071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04A5E"/>
                </a:solidFill>
              </a:rPr>
              <a:t>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01184" y="334670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Configure execution schedule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389120" y="3877056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89120" y="39776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04A5E"/>
                </a:solidFill>
              </a:rPr>
              <a:t>3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01184" y="391363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Manage / cancel schedules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4389120" y="4443984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389120" y="45445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04A5E"/>
                </a:solidFill>
              </a:rPr>
              <a:t>4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01184" y="44805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Scheduler triggers workflow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389120" y="5486400"/>
            <a:ext cx="2606040" cy="0"/>
          </a:xfrm>
          <a:prstGeom prst="line">
            <a:avLst/>
          </a:prstGeom>
          <a:noFill/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389120" y="5577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04A5E"/>
                </a:solidFill>
              </a:rPr>
              <a:t>Scheduler-driven journey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90104" y="1691640"/>
            <a:ext cx="3063240" cy="406908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016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891272" y="1901952"/>
            <a:ext cx="530352" cy="530352"/>
          </a:xfrm>
          <a:prstGeom prst="ellipse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891272" y="206654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58784" y="19019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2228"/>
                </a:solidFill>
              </a:rPr>
              <a:t>KYC Document Verification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891272" y="274320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891272" y="28437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6A6B"/>
                </a:solidFill>
              </a:rPr>
              <a:t>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403336" y="2779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Upload KYC document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7891272" y="3310128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891272" y="341071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6A6B"/>
                </a:solidFill>
              </a:rPr>
              <a:t>2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403336" y="334670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Associate with KYC request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7891272" y="3877056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891272" y="39776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6A6B"/>
                </a:solidFill>
              </a:rPr>
              <a:t>3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403336" y="391363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Admin views document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891272" y="4443984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891272" y="45445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6A6B"/>
                </a:solidFill>
              </a:rPr>
              <a:t>4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403336" y="44805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Approve / reject KYC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7891272" y="5010912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3E9E5"/>
          </a:solidFill>
          <a:ln w="6350">
            <a:solidFill>
              <a:srgbClr val="E8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891272" y="511149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6A6B"/>
                </a:solidFill>
              </a:rPr>
              <a:t>5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403336" y="50474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D2228"/>
                </a:solidFill>
              </a:rPr>
              <a:t>Customer status updated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7891272" y="5486400"/>
            <a:ext cx="2606040" cy="0"/>
          </a:xfrm>
          <a:prstGeom prst="line">
            <a:avLst/>
          </a:prstGeom>
          <a:noFill/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891272" y="5577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D6A6B"/>
                </a:solidFill>
              </a:rPr>
              <a:t>Review &amp; approval journey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85800" y="5925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74634"/>
                </a:solidFill>
              </a:rPr>
              <a:t>Why this matters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828800" y="589788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The MVP demonstrates complete business outcomes—not just isolated screens or APIs.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71" name="Text 69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05FC6-AE97-00F5-F13F-B6544A0F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512A0D-ABDE-F103-BA0D-EEEB37B8882B}"/>
              </a:ext>
            </a:extLst>
          </p:cNvPr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E4E7B0-23A9-5EAB-D8C8-1DAD3B6EADB6}"/>
              </a:ext>
            </a:extLst>
          </p:cNvPr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399298-30BD-82A0-B7DE-5E7251E16C17}"/>
              </a:ext>
            </a:extLst>
          </p:cNvPr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DAC9B9-7EB2-2A4C-D482-03C6B7C279AA}"/>
              </a:ext>
            </a:extLst>
          </p:cNvPr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Snapshot of Frontend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A1FA25-ADA6-52D7-5C16-40B4F8EF3DB2}"/>
              </a:ext>
            </a:extLst>
          </p:cNvPr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4472C90-433F-A8BC-2C45-E709CBF830BA}"/>
              </a:ext>
            </a:extLst>
          </p:cNvPr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7E7D0FE-0A90-7350-13B7-0D620A053876}"/>
              </a:ext>
            </a:extLst>
          </p:cNvPr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3</a:t>
            </a:r>
            <a:endParaRPr lang="en-US" sz="70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E593FE58-A9C4-6C39-CB53-CE5FD4808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26470"/>
            <a:ext cx="10122568" cy="476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6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AD9E5-1CC0-C39F-7726-2CBDFC1A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031C44-AC43-0889-66D5-160AEE213DF3}"/>
              </a:ext>
            </a:extLst>
          </p:cNvPr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3F3B16-A7AE-596F-03B2-E1BCAFBB3FB2}"/>
              </a:ext>
            </a:extLst>
          </p:cNvPr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CA5F69-FEEE-B4C9-751F-CD3A11A2CF98}"/>
              </a:ext>
            </a:extLst>
          </p:cNvPr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F623D7-9ABE-18CC-975C-F7132C70714D}"/>
              </a:ext>
            </a:extLst>
          </p:cNvPr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Snapshot of Frontend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0B46AAD-BA05-C5EC-F735-673121C4220D}"/>
              </a:ext>
            </a:extLst>
          </p:cNvPr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381FA455-0AF4-BFA4-13E5-0EBA2E635ED5}"/>
              </a:ext>
            </a:extLst>
          </p:cNvPr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0BDF2787-95C6-AEBA-3F78-6ABD734DF7F9}"/>
              </a:ext>
            </a:extLst>
          </p:cNvPr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3</a:t>
            </a:r>
            <a:endParaRPr lang="en-US" sz="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50AB8-5997-C473-B5E1-A47565DC6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2" y="1347459"/>
            <a:ext cx="10969592" cy="501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78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Challenges &amp; solutions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Preserving security, consistency and correct financial behavior across independent services.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64008" cy="786384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Managing multiple microservices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Clear domain boundaries + API Gateway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64008" cy="78638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Maintaining financial integrity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06840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Controlled Account Service operations + Workflow Service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85800" y="2624328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5800" y="2624328"/>
            <a:ext cx="64008" cy="786384"/>
          </a:xfrm>
          <a:prstGeom prst="rect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2734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Secure authentication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7249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JWT + Spring Security + BCrypt + 2FA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263640" y="2624328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63640" y="2624328"/>
            <a:ext cx="64008" cy="786384"/>
          </a:xfrm>
          <a:prstGeom prst="rect">
            <a:avLst/>
          </a:prstGeom>
          <a:solidFill>
            <a:srgbClr val="1D2228"/>
          </a:solidFill>
          <a:ln w="12700">
            <a:solidFill>
              <a:srgbClr val="1D22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0" y="2734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Cross-service communication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6840" y="27249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Secured internal APIs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85800" y="3648456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800" y="3648456"/>
            <a:ext cx="64008" cy="786384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37581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Duplicate financial requests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7490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Idempotency keys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263640" y="3648456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64008" cy="78638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0" y="37581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Asynchronous processing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06840" y="37490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Apache Kafka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85800" y="4672584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85800" y="4672584"/>
            <a:ext cx="64008" cy="786384"/>
          </a:xfrm>
          <a:prstGeom prst="rect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0" y="4782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Consistent errors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29000" y="4773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Centralized exception handling + ApiError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6263640" y="4672584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263640" y="4672584"/>
            <a:ext cx="64008" cy="786384"/>
          </a:xfrm>
          <a:prstGeom prst="rect">
            <a:avLst/>
          </a:prstGeom>
          <a:solidFill>
            <a:srgbClr val="1D2228"/>
          </a:solidFill>
          <a:ln w="12700">
            <a:solidFill>
              <a:srgbClr val="1D22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92240" y="4782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2228"/>
                </a:solidFill>
              </a:rPr>
              <a:t>Role-based access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06840" y="4773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B7178"/>
                </a:solidFill>
              </a:rPr>
              <a:t>RBAC + role-aware frontend navigation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1051560" y="5596128"/>
            <a:ext cx="10104120" cy="502920"/>
          </a:xfrm>
          <a:prstGeom prst="roundRect">
            <a:avLst>
              <a:gd name="adj" fmla="val 21818"/>
            </a:avLst>
          </a:prstGeom>
          <a:solidFill>
            <a:srgbClr val="F0E3DE"/>
          </a:solidFill>
          <a:ln w="7620">
            <a:solidFill>
              <a:srgbClr val="E0C1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234440" y="5751576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i="1" dirty="0">
                <a:solidFill>
                  <a:srgbClr val="C74634"/>
                </a:solidFill>
              </a:rPr>
              <a:t>“The main challenge was coordinating independent services while preserving security, consistency and correct financial behavior.”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A practical roadmap for deeper payments, observability, security and production readiness.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1664208"/>
            <a:ext cx="64008" cy="14630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05256" y="18105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Security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Enhanced card blocking / unblocking and fraud detection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520440" y="1664208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20440" y="1664208"/>
            <a:ext cx="64008" cy="1463040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39896" y="18105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External Payments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39896" y="2185416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Integrate UPI and external payment gateway integration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355080" y="1664208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55080" y="1664208"/>
            <a:ext cx="64008" cy="1463040"/>
          </a:xfrm>
          <a:prstGeom prst="rect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74536" y="18105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Notifications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74536" y="2185416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SMS, push notifications, WebSockets / SSE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85800" y="3538728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800" y="3538728"/>
            <a:ext cx="64008" cy="14630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5256" y="36850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DevOps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5256" y="4059936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CI/CD and expanded automated testing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520440" y="3538728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520440" y="3538728"/>
            <a:ext cx="64008" cy="1463040"/>
          </a:xfrm>
          <a:prstGeom prst="rect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39896" y="36850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Monitoring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39896" y="4059936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Centralized logs, metrics, alerts + distributed tracing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355080" y="3538728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55080" y="3538728"/>
            <a:ext cx="64008" cy="1463040"/>
          </a:xfrm>
          <a:prstGeom prst="rect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74536" y="36850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228"/>
                </a:solidFill>
              </a:rPr>
              <a:t>Deployment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74536" y="4059936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178"/>
                </a:solidFill>
              </a:rPr>
              <a:t>Secure cloud deployment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6">
            <a:extLst>
              <a:ext uri="{FF2B5EF4-FFF2-40B4-BE49-F238E27FC236}">
                <a16:creationId xmlns:a16="http://schemas.microsoft.com/office/drawing/2014/main" id="{7D7038EE-6BA4-F318-6FB8-00C10E9BF225}"/>
              </a:ext>
            </a:extLst>
          </p:cNvPr>
          <p:cNvSpPr/>
          <p:nvPr/>
        </p:nvSpPr>
        <p:spPr>
          <a:xfrm>
            <a:off x="868681" y="4434840"/>
            <a:ext cx="10762487" cy="128016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9802368" y="0"/>
            <a:ext cx="2240280" cy="1691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8732520" y="137160"/>
            <a:ext cx="278892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D8A9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5400000">
            <a:off x="10287000" y="4983480"/>
            <a:ext cx="150876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D2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228"/>
                </a:solidFill>
              </a:rPr>
              <a:t>AI usage — transparent and bounded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178"/>
                </a:solidFill>
              </a:rPr>
              <a:t>AI supported selected project work; outputs were reviewed and validated by the team.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1234440"/>
            <a:ext cx="960120" cy="0"/>
          </a:xfrm>
          <a:prstGeom prst="line">
            <a:avLst/>
          </a:prstGeom>
          <a:noFill/>
          <a:ln w="3175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24612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304A5E"/>
          </a:solidFill>
          <a:ln w="12700">
            <a:solidFill>
              <a:srgbClr val="304A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222199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DATA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64792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228"/>
                </a:solidFill>
              </a:rPr>
              <a:t>Dummy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178"/>
                </a:solidFill>
              </a:rPr>
              <a:t>Representative non-production data for development and testing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3721608"/>
            <a:ext cx="251460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88720" y="377647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304A5E"/>
                </a:solidFill>
              </a:rPr>
              <a:t>Supportive — not authoritative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324612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222199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DOCS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513832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228"/>
                </a:solidFill>
              </a:rPr>
              <a:t>Documentation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178"/>
                </a:solidFill>
              </a:rPr>
              <a:t>Structuring, refining and formatting technical documentation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721608"/>
            <a:ext cx="251460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377647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4634"/>
                </a:solidFill>
              </a:rPr>
              <a:t>Supportive — not authoritative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366760" y="1783080"/>
            <a:ext cx="324612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8890">
            <a:solidFill>
              <a:srgbClr val="D7D5D2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95360" y="2057400"/>
            <a:ext cx="502920" cy="502920"/>
          </a:xfrm>
          <a:prstGeom prst="ellipse">
            <a:avLst/>
          </a:prstGeom>
          <a:solidFill>
            <a:srgbClr val="4D6A6B"/>
          </a:solidFill>
          <a:ln w="12700">
            <a:solidFill>
              <a:srgbClr val="4D6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595360" y="222199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TEST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262872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228"/>
                </a:solidFill>
              </a:rPr>
              <a:t>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2743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178"/>
                </a:solidFill>
              </a:rPr>
              <a:t>Test scenarios, edge cases and test-data variations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3721608"/>
            <a:ext cx="251460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86800" y="377647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D6A6B"/>
                </a:solidFill>
              </a:rPr>
              <a:t>Supportive — not authoritative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031053" y="5824728"/>
            <a:ext cx="7543800" cy="572274"/>
          </a:xfrm>
          <a:prstGeom prst="roundRect">
            <a:avLst>
              <a:gd name="adj" fmla="val 15385"/>
            </a:avLst>
          </a:prstGeom>
          <a:solidFill>
            <a:srgbClr val="F0E3DE"/>
          </a:solidFill>
          <a:ln w="8890">
            <a:solidFill>
              <a:srgbClr val="E0C1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76272" y="5961888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74634"/>
                </a:solidFill>
              </a:rPr>
              <a:t>Validation: AI-assisted outputs were reviewed and validated by the project team before use.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" y="6473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11631168" y="6446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378"/>
                </a:solidFill>
              </a:rPr>
              <a:t>8</a:t>
            </a:r>
            <a:endParaRPr lang="en-US" sz="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97763-133F-417B-C6A8-47E8FA8BA94D}"/>
              </a:ext>
            </a:extLst>
          </p:cNvPr>
          <p:cNvSpPr txBox="1"/>
          <p:nvPr/>
        </p:nvSpPr>
        <p:spPr>
          <a:xfrm>
            <a:off x="1188719" y="4434840"/>
            <a:ext cx="102167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Prompt:</a:t>
            </a:r>
            <a:br>
              <a:rPr lang="en-IN" sz="1000" dirty="0"/>
            </a:br>
            <a:r>
              <a:rPr lang="en-IN" sz="1000" dirty="0"/>
              <a:t>Act as a </a:t>
            </a:r>
            <a:r>
              <a:rPr lang="en-IN" sz="1000" b="1" dirty="0"/>
              <a:t>Solution Architect</a:t>
            </a:r>
            <a:r>
              <a:rPr lang="en-IN" sz="1000" dirty="0"/>
              <a:t> and describe the </a:t>
            </a:r>
            <a:r>
              <a:rPr lang="en-IN" sz="1000" b="1" dirty="0"/>
              <a:t>high-level architecture of the Internet Banking System</a:t>
            </a:r>
            <a:r>
              <a:rPr lang="en-IN" sz="1000" dirty="0"/>
              <a:t>, covering the </a:t>
            </a:r>
            <a:r>
              <a:rPr lang="en-IN" sz="1000" b="1" dirty="0"/>
              <a:t>Oracle JET frontend, Spring Boot microservices backend, Spring Cloud API Gateway, Oracle Database, Apache Kafka, and external systems</a:t>
            </a:r>
            <a:r>
              <a:rPr lang="en-IN" sz="1000" dirty="0"/>
              <a:t>, and briefly explain how these components communicate and interact securely.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89E5A6-CB5D-7EB4-7A9A-B114FDA008A2}"/>
              </a:ext>
            </a:extLst>
          </p:cNvPr>
          <p:cNvSpPr txBox="1"/>
          <p:nvPr/>
        </p:nvSpPr>
        <p:spPr>
          <a:xfrm>
            <a:off x="1188719" y="4969424"/>
            <a:ext cx="1013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Prompt:</a:t>
            </a:r>
            <a:br>
              <a:rPr lang="en-IN" sz="1000" dirty="0"/>
            </a:br>
            <a:r>
              <a:rPr lang="en-IN" sz="1000" dirty="0"/>
              <a:t>Compare the </a:t>
            </a:r>
            <a:r>
              <a:rPr lang="en-IN" sz="1000" b="1" dirty="0"/>
              <a:t>original and refactored implementations of the Internet Banking System</a:t>
            </a:r>
            <a:r>
              <a:rPr lang="en-IN" sz="1000" dirty="0"/>
              <a:t>, focusing on the </a:t>
            </a:r>
            <a:r>
              <a:rPr lang="en-IN" sz="1000" b="1" dirty="0"/>
              <a:t>Oracle JET frontend and Spring Boot microservices backend</a:t>
            </a:r>
            <a:r>
              <a:rPr lang="en-IN" sz="1000" dirty="0"/>
              <a:t>. For each refactoring improvement, explain </a:t>
            </a:r>
            <a:r>
              <a:rPr lang="en-IN" sz="1000" b="1" dirty="0"/>
              <a:t>what was changed, why it was required, how it improves code quality, and whether existing functionality remains unchanged</a:t>
            </a:r>
            <a:r>
              <a:rPr lang="en-IN" sz="1000" dirty="0"/>
              <a:t>, and present the results in a concise comparison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3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"/>
            <a:ext cx="2468880" cy="20574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5400000">
            <a:off x="9326880" y="4572000"/>
            <a:ext cx="2194560" cy="1828800"/>
          </a:xfrm>
          <a:prstGeom prst="arc">
            <a:avLst/>
          </a:prstGeom>
          <a:solidFill>
            <a:srgbClr val="FFFFFF">
              <a:alpha val="0"/>
            </a:srgbClr>
          </a:solidFill>
          <a:ln w="330200">
            <a:solidFill>
              <a:srgbClr val="6E6B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B0A3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 secure and modular foundation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for future banking capabilities.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B0A3"/>
                </a:solidFill>
              </a:rPr>
              <a:t>What is delivered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" y="3218688"/>
            <a:ext cx="109728" cy="1097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3136392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Secure + modular digital banking platform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3666744"/>
            <a:ext cx="109728" cy="1097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584448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Oracle JET + Spring Boot microservices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114800"/>
            <a:ext cx="109728" cy="1097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4032504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Centralized communication through API Gateway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4562856"/>
            <a:ext cx="109728" cy="1097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JWT, RBAC, 2FA, encryption, idempotency &amp; audit controls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" y="5010912"/>
            <a:ext cx="109728" cy="1097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4928616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Kafka for asynchronous notification and audit processing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2514600"/>
            <a:ext cx="749808" cy="950976"/>
          </a:xfrm>
          <a:prstGeom prst="roundRect">
            <a:avLst>
              <a:gd name="adj" fmla="val 9756"/>
            </a:avLst>
          </a:prstGeom>
          <a:solidFill>
            <a:srgbClr val="4A4F55"/>
          </a:solidFill>
          <a:ln w="6350">
            <a:solidFill>
              <a:srgbClr val="65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0" y="2633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B0A3"/>
                </a:solidFill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96912" y="29077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Channel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7278624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D5D7D8"/>
                </a:solidFill>
              </a:rPr>
              <a:t>Oracle JET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7991856" y="2852928"/>
            <a:ext cx="201168" cy="256032"/>
          </a:xfrm>
          <a:prstGeom prst="chevron">
            <a:avLst/>
          </a:prstGeom>
          <a:solidFill>
            <a:srgbClr val="6D747B"/>
          </a:solidFill>
          <a:ln w="12700">
            <a:solidFill>
              <a:srgbClr val="6D74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065008" y="3721608"/>
            <a:ext cx="749808" cy="950976"/>
          </a:xfrm>
          <a:prstGeom prst="roundRect">
            <a:avLst>
              <a:gd name="adj" fmla="val 9756"/>
            </a:avLst>
          </a:prstGeom>
          <a:solidFill>
            <a:srgbClr val="C74634"/>
          </a:solidFill>
          <a:ln w="6350">
            <a:solidFill>
              <a:srgbClr val="65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156448" y="38404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B0A3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1148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Gateway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8119872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D5D7D8"/>
                </a:solidFill>
              </a:rPr>
              <a:t>API Gateway</a:t>
            </a:r>
            <a:endParaRPr lang="en-US" sz="590" dirty="0"/>
          </a:p>
        </p:txBody>
      </p:sp>
      <p:sp>
        <p:nvSpPr>
          <p:cNvPr id="26" name="Shape 24"/>
          <p:cNvSpPr/>
          <p:nvPr/>
        </p:nvSpPr>
        <p:spPr>
          <a:xfrm>
            <a:off x="8833104" y="4059936"/>
            <a:ext cx="201168" cy="256032"/>
          </a:xfrm>
          <a:prstGeom prst="chevron">
            <a:avLst/>
          </a:prstGeom>
          <a:solidFill>
            <a:srgbClr val="6D747B"/>
          </a:solidFill>
          <a:ln w="12700">
            <a:solidFill>
              <a:srgbClr val="6D74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906256" y="2514600"/>
            <a:ext cx="749808" cy="950976"/>
          </a:xfrm>
          <a:prstGeom prst="roundRect">
            <a:avLst>
              <a:gd name="adj" fmla="val 9756"/>
            </a:avLst>
          </a:prstGeom>
          <a:solidFill>
            <a:srgbClr val="4A4F55"/>
          </a:solidFill>
          <a:ln w="6350">
            <a:solidFill>
              <a:srgbClr val="65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997696" y="2633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B0A3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79408" y="29077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Services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8961120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D5D7D8"/>
                </a:solidFill>
              </a:rPr>
              <a:t>Microservices</a:t>
            </a:r>
            <a:endParaRPr lang="en-US" sz="590" dirty="0"/>
          </a:p>
        </p:txBody>
      </p:sp>
      <p:sp>
        <p:nvSpPr>
          <p:cNvPr id="31" name="Shape 29"/>
          <p:cNvSpPr/>
          <p:nvPr/>
        </p:nvSpPr>
        <p:spPr>
          <a:xfrm>
            <a:off x="9674352" y="2852928"/>
            <a:ext cx="201168" cy="256032"/>
          </a:xfrm>
          <a:prstGeom prst="chevron">
            <a:avLst/>
          </a:prstGeom>
          <a:solidFill>
            <a:srgbClr val="6D747B"/>
          </a:solidFill>
          <a:ln w="12700">
            <a:solidFill>
              <a:srgbClr val="6D74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747504" y="3721608"/>
            <a:ext cx="749808" cy="950976"/>
          </a:xfrm>
          <a:prstGeom prst="roundRect">
            <a:avLst>
              <a:gd name="adj" fmla="val 9756"/>
            </a:avLst>
          </a:prstGeom>
          <a:solidFill>
            <a:srgbClr val="4A4F55"/>
          </a:solidFill>
          <a:ln w="6350">
            <a:solidFill>
              <a:srgbClr val="65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838944" y="38404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B0A3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20656" y="41148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Workflow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9802368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D5D7D8"/>
                </a:solidFill>
              </a:rPr>
              <a:t>Kafka + orchestration</a:t>
            </a:r>
            <a:endParaRPr lang="en-US" sz="590" dirty="0"/>
          </a:p>
        </p:txBody>
      </p:sp>
      <p:sp>
        <p:nvSpPr>
          <p:cNvPr id="36" name="Shape 34"/>
          <p:cNvSpPr/>
          <p:nvPr/>
        </p:nvSpPr>
        <p:spPr>
          <a:xfrm>
            <a:off x="10515600" y="4059936"/>
            <a:ext cx="201168" cy="256032"/>
          </a:xfrm>
          <a:prstGeom prst="chevron">
            <a:avLst/>
          </a:prstGeom>
          <a:solidFill>
            <a:srgbClr val="6D747B"/>
          </a:solidFill>
          <a:ln w="12700">
            <a:solidFill>
              <a:srgbClr val="6D74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588752" y="2514600"/>
            <a:ext cx="749808" cy="950976"/>
          </a:xfrm>
          <a:prstGeom prst="roundRect">
            <a:avLst>
              <a:gd name="adj" fmla="val 9756"/>
            </a:avLst>
          </a:prstGeom>
          <a:solidFill>
            <a:srgbClr val="4A4F55"/>
          </a:solidFill>
          <a:ln w="6350">
            <a:solidFill>
              <a:srgbClr val="65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680192" y="2633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B0A3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61904" y="29077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Data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0643616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D5D7D8"/>
                </a:solidFill>
              </a:rPr>
              <a:t>Oracle Database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7178040" y="4983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B0A3"/>
                </a:solidFill>
              </a:rPr>
              <a:t>Three demonstrated MVP journeys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8040" y="5440680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78040" y="549554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4634"/>
                </a:solidFill>
              </a:rPr>
              <a:t>Biller + Bills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503920" y="5440680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3920" y="549554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304A5E"/>
                </a:solidFill>
              </a:rPr>
              <a:t>Scheduled Payments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9829800" y="5440680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F2E3DF"/>
          </a:solidFill>
          <a:ln w="7620">
            <a:solidFill>
              <a:srgbClr val="E8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829800" y="549554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D6A6B"/>
                </a:solidFill>
              </a:rPr>
              <a:t>KYC Verification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731520" y="6199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C8CA"/>
                </a:solidFill>
              </a:rPr>
              <a:t>Thank you  •  Questions / comments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623620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AEB3B7"/>
                </a:solidFill>
              </a:rPr>
              <a:t>Confidential - Oracle Restricted | Employees Only</a:t>
            </a:r>
            <a:endParaRPr lang="en-US" sz="620" dirty="0"/>
          </a:p>
        </p:txBody>
      </p:sp>
      <p:sp>
        <p:nvSpPr>
          <p:cNvPr id="50" name="Text 48"/>
          <p:cNvSpPr/>
          <p:nvPr/>
        </p:nvSpPr>
        <p:spPr>
          <a:xfrm>
            <a:off x="11631168" y="62179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EB3B7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899</Words>
  <Application>Microsoft Office PowerPoint</Application>
  <PresentationFormat>Widescreen</PresentationFormat>
  <Paragraphs>224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Oracle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Banking System — Project Overview</dc:title>
  <dc:subject>Internet Banking System</dc:subject>
  <dc:creator>OpenAI</dc:creator>
  <cp:lastModifiedBy>NANAVALA MEGHANA</cp:lastModifiedBy>
  <cp:revision>6</cp:revision>
  <dcterms:created xsi:type="dcterms:W3CDTF">2026-08-11T16:47:42Z</dcterms:created>
  <dcterms:modified xsi:type="dcterms:W3CDTF">2026-08-12T11:29:19Z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Confidential - Oracle Restricted \Employees Only</vt:lpwstr>
  </property>
</Properties>
</file>